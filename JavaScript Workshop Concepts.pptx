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s/slide4.xml" ContentType="application/vnd.openxmlformats-officedocument.presentationml.slide+xml"/>
  <ns0:Override PartName="/ppt/slides/slide40.xml" ContentType="application/vnd.openxmlformats-officedocument.presentationml.slide+xml"/>
  <ns0:Override PartName="/ppt/slides/slide41.xml" ContentType="application/vnd.openxmlformats-officedocument.presentationml.slide+xml"/>
  <ns0:Override PartName="/ppt/slides/slide42.xml" ContentType="application/vnd.openxmlformats-officedocument.presentationml.slide+xml"/>
  <ns0:Override PartName="/ppt/slides/slide43.xml" ContentType="application/vnd.openxmlformats-officedocument.presentationml.slide+xml"/>
  <ns0:Override PartName="/ppt/slides/slide44.xml" ContentType="application/vnd.openxmlformats-officedocument.presentationml.slide+xml"/>
  <ns0:Override PartName="/ppt/slides/slide45.xml" ContentType="application/vnd.openxmlformats-officedocument.presentationml.slide+xml"/>
  <ns0:Override PartName="/ppt/slides/slide46.xml" ContentType="application/vnd.openxmlformats-officedocument.presentationml.slide+xml"/>
  <ns0:Override PartName="/ppt/slides/slide47.xml" ContentType="application/vnd.openxmlformats-officedocument.presentationml.slide+xml"/>
  <ns0:Override PartName="/ppt/slides/slide48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  <ns0:sldId id="294" ns1:id="rId45"/>
    <ns0:sldId id="295" ns1:id="rId46"/>
    <ns0:sldId id="296" ns1:id="rId47"/>
    <ns0:sldId id="297" ns1:id="rId48"/>
    <ns0:sldId id="298" ns1:id="rId49"/>
    <ns0:sldId id="299" ns1:id="rId50"/>
    <ns0:sldId id="300" ns1:id="rId51"/>
    <ns0:sldId id="301" ns1:id="rId52"/>
    <ns0:sldId id="302" ns1:id="rId53"/>
    <ns0:sldId id="303" ns1:id="rId54"/>
  </ns0:sldIdLst>
  <ns0:sldSz cx="12192000" cy="6858000" type="screen4x3"/>
  <ns0:notesSz cx="6858000" cy="9144000"/>
  <ns0:embeddedFontLst>
    <ns0:embeddedFont>
      <ns0:font typeface="Space Grotesk"/>
      <ns0:bold ns1:id="rIdFont55"/>
    </ns0:embeddedFont>
    <ns0:embeddedFont>
      <ns0:font typeface="Inter"/>
      <ns0:bold ns1:id="rIdFont56"/>
      <ns0:regular ns1:id="rIdFont57"/>
    </ns0:embeddedFont>
    <ns0:embeddedFont>
      <ns0:font typeface="Fira Code"/>
      <ns0:regular ns1:id="rIdFont5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38" Type="http://schemas.openxmlformats.org/officeDocument/2006/relationships/slide" Target="slides/slide32.xml" /><ns0:Relationship Id="rId39" Type="http://schemas.openxmlformats.org/officeDocument/2006/relationships/slide" Target="slides/slide33.xml" /><ns0:Relationship Id="rId40" Type="http://schemas.openxmlformats.org/officeDocument/2006/relationships/slide" Target="slides/slide34.xml" /><ns0:Relationship Id="rId41" Type="http://schemas.openxmlformats.org/officeDocument/2006/relationships/slide" Target="slides/slide35.xml" /><ns0:Relationship Id="rId42" Type="http://schemas.openxmlformats.org/officeDocument/2006/relationships/slide" Target="slides/slide36.xml" /><ns0:Relationship Id="rId43" Type="http://schemas.openxmlformats.org/officeDocument/2006/relationships/slide" Target="slides/slide37.xml" /><ns0:Relationship Id="rId44" Type="http://schemas.openxmlformats.org/officeDocument/2006/relationships/slide" Target="slides/slide38.xml" /><ns0:Relationship Id="rId45" Type="http://schemas.openxmlformats.org/officeDocument/2006/relationships/slide" Target="slides/slide39.xml" /><ns0:Relationship Id="rId46" Type="http://schemas.openxmlformats.org/officeDocument/2006/relationships/slide" Target="slides/slide40.xml" /><ns0:Relationship Id="rId47" Type="http://schemas.openxmlformats.org/officeDocument/2006/relationships/slide" Target="slides/slide41.xml" /><ns0:Relationship Id="rId48" Type="http://schemas.openxmlformats.org/officeDocument/2006/relationships/slide" Target="slides/slide42.xml" /><ns0:Relationship Id="rId49" Type="http://schemas.openxmlformats.org/officeDocument/2006/relationships/slide" Target="slides/slide43.xml" /><ns0:Relationship Id="rId50" Type="http://schemas.openxmlformats.org/officeDocument/2006/relationships/slide" Target="slides/slide44.xml" /><ns0:Relationship Id="rId51" Type="http://schemas.openxmlformats.org/officeDocument/2006/relationships/slide" Target="slides/slide45.xml" /><ns0:Relationship Id="rId52" Type="http://schemas.openxmlformats.org/officeDocument/2006/relationships/slide" Target="slides/slide46.xml" /><ns0:Relationship Id="rId53" Type="http://schemas.openxmlformats.org/officeDocument/2006/relationships/slide" Target="slides/slide47.xml" /><ns0:Relationship Id="rId54" Type="http://schemas.openxmlformats.org/officeDocument/2006/relationships/slide" Target="slides/slide48.xml" /><ns0:Relationship Id="rIdFont55" Type="http://schemas.openxmlformats.org/officeDocument/2006/relationships/font" Target="fonts/59de0d76-fede-41ce-91de-06c2928c8a2d.fntdata" /><ns0:Relationship Id="rIdFont56" Type="http://schemas.openxmlformats.org/officeDocument/2006/relationships/font" Target="fonts/8be9515b-518b-4d0f-bb5c-9382daf6cd71.fntdata" /><ns0:Relationship Id="rIdFont57" Type="http://schemas.openxmlformats.org/officeDocument/2006/relationships/font" Target="fonts/d57627da-3ca9-4580-bea9-5676da39a36d.fntdata" /><ns0:Relationship Id="rIdFont58" Type="http://schemas.openxmlformats.org/officeDocument/2006/relationships/font" Target="fonts/1c57a1b8-b266-42dc-abc4-7ace42ac2bd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09750" y="3918495"/>
            <a:ext cx="8572500" cy="1752600"/>
          </a:xfrm>
          <a:prstGeom prst="roundRect">
            <a:avLst>
              <a:gd name="adj" fmla="val 6521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3921" y="1186904"/>
            <a:ext cx="6584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Inter"/>
              </a:rPr>
              <a:t>A ONE-DAY WORKSHOP FOR FIRST-YEAR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1539329"/>
            <a:ext cx="11251406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JavaScript, DOM, JSON and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984" y="3108870"/>
            <a:ext cx="787003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CCFBF1"/>
                </a:solidFill>
                <a:latin typeface="Inter"/>
              </a:rPr>
              <a:t>Concepts · examples · quizzes · a deployed Task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4550" y="4223295"/>
            <a:ext cx="80581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const day = ['learn', 'build', 'ship']; day.forEach(step =&gt; { console.log(step); }); // by 4 pm: a live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2514600" cy="440248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29000" y="1845915"/>
            <a:ext cx="2514600" cy="440248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845915"/>
            <a:ext cx="2514600" cy="440248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67800" y="1845915"/>
            <a:ext cx="2514600" cy="440248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845915"/>
            <a:ext cx="25146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9000" y="1845915"/>
            <a:ext cx="25146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400" y="1845915"/>
            <a:ext cx="25146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67800" y="1845915"/>
            <a:ext cx="25146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THE DAY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75533"/>
            <a:ext cx="250031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766E"/>
                </a:solidFill>
                <a:latin typeface="Space Grotesk"/>
              </a:rPr>
              <a:t>Session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70833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57534E"/>
                </a:solidFill>
                <a:latin typeface="Inter"/>
              </a:rPr>
              <a:t>Core JavaScript and the 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6633"/>
            <a:ext cx="20002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1C1917"/>
                </a:solidFill>
                <a:latin typeface="Inter"/>
              </a:rPr>
              <a:t>Variables, logic, arrays, objects, 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800" y="3075533"/>
            <a:ext cx="250031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766E"/>
                </a:solidFill>
                <a:latin typeface="Space Grotesk"/>
              </a:rPr>
              <a:t>Session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3800" y="3570833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57534E"/>
                </a:solidFill>
                <a:latin typeface="Inter"/>
              </a:rPr>
              <a:t>Events, storage and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3800" y="4256633"/>
            <a:ext cx="20002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1C1917"/>
                </a:solidFill>
                <a:latin typeface="Inter"/>
              </a:rPr>
              <a:t>Events, validation, localStorage, JSON, fetch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3075533"/>
            <a:ext cx="250031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766E"/>
                </a:solidFill>
                <a:latin typeface="Space Grotesk"/>
              </a:rPr>
              <a:t>Session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570833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57534E"/>
                </a:solidFill>
                <a:latin typeface="Inter"/>
              </a:rPr>
              <a:t>Task Manager, Git,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256633"/>
            <a:ext cx="20002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1C1917"/>
                </a:solidFill>
                <a:latin typeface="Inter"/>
              </a:rPr>
              <a:t>Build in pairs, branch, merge, go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208883"/>
            <a:ext cx="250031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766E"/>
                </a:solidFill>
                <a:latin typeface="Space Grotesk"/>
              </a:rP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704183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57534E"/>
                </a:solidFill>
                <a:latin typeface="Inter"/>
              </a:rPr>
              <a:t>Quizzes and 20 MCQs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389983"/>
            <a:ext cx="2000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1C1917"/>
                </a:solidFill>
                <a:latin typeface="Inter"/>
              </a:rPr>
              <a:t>A quiz after every 2 concepts, final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742158"/>
            <a:ext cx="5181600" cy="2609850"/>
          </a:xfrm>
          <a:prstGeom prst="roundRect">
            <a:avLst>
              <a:gd name="adj" fmla="val 4379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What is JavaScript?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3046958"/>
            <a:ext cx="4667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// The classic first program console.log('Hello, world!'); const name = 'Anita'; console.log(`Hi ${name}`); // Run it: press F12, open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0996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Created in 1995 by Brendan Eich at Netscape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58541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Standardised as ECMAScript; ES6 (2015) added let, const, arrows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27102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HTML = structure, CSS = looks, JavaScript = behaviour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9566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Runs in browsers and on servers (Node.js)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4244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Used for websites, servers, mobile and desktop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599283"/>
            <a:ext cx="5181600" cy="2895600"/>
          </a:xfrm>
          <a:prstGeom prst="roundRect">
            <a:avLst>
              <a:gd name="adj" fmla="val 3947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JavaScript engines and Chrome 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904083"/>
            <a:ext cx="466725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// What V8 does with your code source code -&gt; parser (builds an AST) -&gt; Ignition (interpreter, bytecode) -&gt; TurboFan (optimising compiler) -&gt; machine code, runs fast // Hot code gets optimised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0996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An engine reads your code and runs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58541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V8: Google’s open-source engine, written in 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2710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Used by Chrome, Edge and Node.js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75683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JIT compiling turns JS into machine code for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4244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Others: SpiderMonkey (Firefox), JavaScriptCore (Safari)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Who runs JavaScript inside Chrome?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170932"/>
            <a:ext cx="55626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V8 is written mainly in which language?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The V8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The CSS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The 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696592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16897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C++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641353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Python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412652"/>
            <a:ext cx="310306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12666" y="2412652"/>
            <a:ext cx="327079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83462" y="2412652"/>
            <a:ext cx="459893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031777"/>
            <a:ext cx="310306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2666" y="3031777"/>
            <a:ext cx="327079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83462" y="3031777"/>
            <a:ext cx="459893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650902"/>
            <a:ext cx="310306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12666" y="3650902"/>
            <a:ext cx="327079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83462" y="3650902"/>
            <a:ext cx="459893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270027"/>
            <a:ext cx="310306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12666" y="4270027"/>
            <a:ext cx="327079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83462" y="4270027"/>
            <a:ext cx="459893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889152"/>
            <a:ext cx="310306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12666" y="4889152"/>
            <a:ext cx="327079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83462" y="4889152"/>
            <a:ext cx="459893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5508277"/>
            <a:ext cx="310306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12666" y="5508277"/>
            <a:ext cx="327079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83462" y="5508277"/>
            <a:ext cx="459893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600" y="1845915"/>
            <a:ext cx="10972800" cy="42862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09600" y="1845915"/>
          <a:ext cx="10972798" cy="42862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103066"/>
                <a:gridCol w="3270795"/>
                <a:gridCol w="4598937"/>
              </a:tblGrid>
              <a:tr h="61232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Inter"/>
                        </a:rPr>
                        <a:t>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Inter"/>
                        </a:rPr>
                        <a:t>Chrome (browser)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Inter"/>
                        </a:rPr>
                        <a:t>Node.js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4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V8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V8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DOM and window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alert, localStorage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No (fetch is built in since v18)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Extra APIs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Web APIs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fs, http, path, process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Used for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Web pages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Servers, scripts, tools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2324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Package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npm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V8 vs Node.js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381000" y="6360765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57534E"/>
                </a:solidFill>
                <a:latin typeface="Inter"/>
              </a:rPr>
              <a:t>V8 is the engine. Node.js is a runtime that wraps V8 with file, network and OS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412652"/>
            <a:ext cx="119062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00225" y="2412652"/>
            <a:ext cx="302314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23370" y="2412652"/>
            <a:ext cx="223182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55197" y="2412652"/>
            <a:ext cx="175557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10773" y="2412652"/>
            <a:ext cx="277162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260377"/>
            <a:ext cx="119062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3260377"/>
            <a:ext cx="302314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23370" y="3260377"/>
            <a:ext cx="223182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5197" y="3260377"/>
            <a:ext cx="175557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10773" y="3260377"/>
            <a:ext cx="277162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108102"/>
            <a:ext cx="119062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0225" y="4108102"/>
            <a:ext cx="302314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23370" y="4108102"/>
            <a:ext cx="223182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55197" y="4108102"/>
            <a:ext cx="175557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10773" y="4108102"/>
            <a:ext cx="277162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955827"/>
            <a:ext cx="119062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00225" y="4955827"/>
            <a:ext cx="302314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23370" y="4955827"/>
            <a:ext cx="223182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55197" y="4955827"/>
            <a:ext cx="175557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10773" y="4955827"/>
            <a:ext cx="277162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9600" y="1845915"/>
            <a:ext cx="10972800" cy="39624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09600" y="1845915"/>
          <a:ext cx="10972798" cy="3962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90625"/>
                <a:gridCol w="3023145"/>
                <a:gridCol w="2231826"/>
                <a:gridCol w="1755576"/>
                <a:gridCol w="2771626"/>
              </a:tblGrid>
              <a:tr h="79248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Inter"/>
                        </a:rPr>
                        <a:t>Tool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Inter"/>
                        </a:rPr>
                        <a:t>What it 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Inter"/>
                        </a:rPr>
                        <a:t>Made by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Inter"/>
                        </a:rPr>
                        <a:t>Language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Inter"/>
                        </a:rPr>
                        <a:t>Best for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C1917"/>
                          </a:solidFill>
                          <a:latin typeface="Inter"/>
                        </a:rPr>
                        <a:t>Node.js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Runtime, not a UI framework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OpenJS Foundation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JavaScript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Servers, APIs, build tools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C1917"/>
                          </a:solidFill>
                          <a:latin typeface="Inter"/>
                        </a:rPr>
                        <a:t>Angular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Full framework, batteries included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Google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TypeScript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Large, structured apps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C1917"/>
                          </a:solidFill>
                          <a:latin typeface="Inter"/>
                        </a:rPr>
                        <a:t>Vue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Progressive, approachable framework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Evan You and community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JS or TypeScript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Quick start, small to medium apps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C1917"/>
                          </a:solidFill>
                          <a:latin typeface="Inter"/>
                        </a:rPr>
                        <a:t>React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UI library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Meta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JavaScript (JSX)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Component-based UIs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Node.js vs Angular vs Vue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381000" y="6036915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57534E"/>
                </a:solidFill>
                <a:latin typeface="Inter"/>
              </a:rPr>
              <a:t>Not rivals: Angular and Vue run in the browser, and their tools run on Node. Learn plain JavaScript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Which of these has no DOM?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170932"/>
            <a:ext cx="55626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Angular and Vue are...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Chrome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Firefox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696592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Frameworks for building UIs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16897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JavaScript runtimes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641353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Databases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456408"/>
            <a:ext cx="5181600" cy="3181350"/>
          </a:xfrm>
          <a:prstGeom prst="roundRect">
            <a:avLst>
              <a:gd name="adj" fmla="val 3592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Workspace and DevTools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761208"/>
            <a:ext cx="466725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// Try these in the Console 2 + 3 'Hi ' + 'there' document.title document.body.style.background = 'lightyellow';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994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VS Code with the Live Server 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7852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DevTools: F12 or Ctrl+Shift+I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2710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Console: run JavaScript instantly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7568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Elements: inspect and edit the DOM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824263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Network and Application: requests and localStorage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170658"/>
            <a:ext cx="5181600" cy="3752850"/>
          </a:xfrm>
          <a:prstGeom prst="roundRect">
            <a:avLst>
              <a:gd name="adj" fmla="val 3045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Variables, scope and const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475458"/>
            <a:ext cx="4667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let score = 70; score = 75; // ok const college = 'RVCE'; // college = 'BMS'; // TypeError const s = { marks: 80 }; s.marks = 85; // allowed console.log(`Marks: ${s.marks}`); console.log(typeof null); // 'object'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994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let: can change. Block-scoped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78522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const: cannot be reassigned; object contents can still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4708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var: legacy and function-scoped. Avoid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9566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Template literals: backticks and ${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424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typeof shows the 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Which shortcut opens DevTools?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170932"/>
            <a:ext cx="55626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Which variable can be reassigned?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F12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F5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696592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const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16897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641353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Neither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313533"/>
            <a:ext cx="5181600" cy="3467100"/>
          </a:xfrm>
          <a:prstGeom prst="roundRect">
            <a:avLst>
              <a:gd name="adj" fmla="val 3296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Equality and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618333"/>
            <a:ext cx="466725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'5' == 5 // true '5' === 5 // false '5' + 3 // '53' '5' - 3 // 2 const m = Number('85'); if (m &gt;= 75) console.log('A'); else console.log('B or below'); console.log(m &gt;= 40 ? 'Pass' : 'Fail');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9941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== converts types. === checks type too: always use ===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9850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Input values are text: wrap in Number()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4708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if / else if / else picks a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9566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Ternary: condition ? a :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424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Logical: &amp;&amp; (and), || (or), ! (not)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170658"/>
            <a:ext cx="5181600" cy="3752850"/>
          </a:xfrm>
          <a:prstGeom prst="roundRect">
            <a:avLst>
              <a:gd name="adj" fmla="val 3045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Functions and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475458"/>
            <a:ext cx="4667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function grade(p) { if (p &gt;= 90) return 'A+'; if (p &gt;= 75) return 'A'; return 'B or below'; } const square = n =&gt; n * n; for (let i = 1; i &lt;= 3; i++) { console.log(i, square(i));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8993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 function groups reusable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3851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return sends a value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8709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Arrow function: n =&gt; n *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3567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 for loop repeats a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8425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let inside a loop is block-scoped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What does '5' + 3 give?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022401"/>
            <a:ext cx="4743450" cy="594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What does a function use to send a value back?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'53'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843218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845123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31559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31750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break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787979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789884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yield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456408"/>
            <a:ext cx="5181600" cy="3181350"/>
          </a:xfrm>
          <a:prstGeom prst="roundRect">
            <a:avLst>
              <a:gd name="adj" fmla="val 3592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Arrays and their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761208"/>
            <a:ext cx="466725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const marks = [70, 85, 90]; marks.push(95); // add to end marks.splice(1, 0, 80); // insert at 1 marks.map(m =&gt; m + 5); marks.filter(m =&gt; m &gt;= 75); students.find(s =&gt; s.id === 2); students.findIndex(s =&gt; s.id === 2);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6995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An ordered list; index starts at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018532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push/pop work on the end, unshift/shift on the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8709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splice(i, n) inserts or removes anywhere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35673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map transforms, filter keeps: both return NEW arrays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0423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find and findIndex locate one item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313533"/>
            <a:ext cx="5181600" cy="3467100"/>
          </a:xfrm>
          <a:prstGeom prst="roundRect">
            <a:avLst>
              <a:gd name="adj" fmla="val 3296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Objects and nested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618333"/>
            <a:ext cx="466725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const rec = { id: 1, name: 'Anita', contact: { city: 'Bengaluru' } }; console.log(rec.name, rec['id']); console.log(rec.contact.city); const { name } = rec; const copy = { ...rec, name: 'A.K' 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8993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Key and value pairs: dot or bracket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3851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Real data is an array of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8709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Objects nest: rec.contact.city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3567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Destructuring pulls values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8425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Spread copies an object with changes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What does map return?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022401"/>
            <a:ext cx="4743450" cy="594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How do you read name from { name: 'A' }?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 new array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undefined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The same array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843218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845123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obj.name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31559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31750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obj-&gt;name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787979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789884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name.obj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313533"/>
            <a:ext cx="5181600" cy="3467100"/>
          </a:xfrm>
          <a:prstGeom prst="roundRect">
            <a:avLst>
              <a:gd name="adj" fmla="val 3296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The DOM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618333"/>
            <a:ext cx="466725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const t = document .getElementById('title'); t.textContent = 'Hello Students'; t.style.color = 'blue'; t.classList.add('highlight'); const li = document.createElement('li'); li.textContent = 'Task 1'; list.appendChild(li); li.remove();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8993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The DOM is the browser’s tree of your 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3851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Four moves: select, change, style, 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8709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Select: getElementById, querySelector(All)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3567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Change: textContent, classList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8425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Create: createElement + appendChild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599283"/>
            <a:ext cx="5181600" cy="2895600"/>
          </a:xfrm>
          <a:prstGeom prst="roundRect">
            <a:avLst>
              <a:gd name="adj" fmla="val 3947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Safe rendering: textContent vs innerHTML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904083"/>
            <a:ext cx="466725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const evil = ''; list.innerHTML = ''; // SAFE: clear list.innerHTML = evil; // UNSAFE list.textContent = evil; // SAFE: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994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innerHTML = '' to clear a list is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78522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Never put typed or fetched text into innerHTML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4708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XSS: the browser runs injected 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9566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textContent or createElement show plain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424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Render pattern: clear, loop, create, append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Which method creates a new element?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170932"/>
            <a:ext cx="55626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Safest way to show user-typed text?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document.make()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document.createElement()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document.newElement()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696592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textContent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16897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innerHTML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641353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eval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027783"/>
            <a:ext cx="5181600" cy="4038600"/>
          </a:xfrm>
          <a:prstGeom prst="roundRect">
            <a:avLst>
              <a:gd name="adj" fmla="val 283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332583"/>
            <a:ext cx="466725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btn.addEventListener('click', () =&gt; { clicks++; btn.textContent = `Clicked ${clicks}`; }); form.addEventListener('submit', e =&gt; { e.preventDefault(); console.log('handled by JS'); }); box.addEventListener('input', e =&gt; console.log(e.target.value));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9941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Chain: user action, event, function, DOM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9850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addEventListener(type, handler)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4708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Common events: click, input, submit,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9566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event.target.value is the current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424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preventDefault() stops the form reload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313533"/>
            <a:ext cx="5181600" cy="3467100"/>
          </a:xfrm>
          <a:prstGeom prst="roundRect">
            <a:avLst>
              <a:gd name="adj" fmla="val 3296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Input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618333"/>
            <a:ext cx="466725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' Anita '.trim(); // 'Anita' '123456'.length === 6; // true /^\d{10}$/.test('9876543210'); function validateMobile(v) { if (!v.trim()) return 'Required'; if (!/^\d{10}$/.test(v.trim())) return 'Enter 10 digits'; return '';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994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trim() strips accidental 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7852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length checks the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2710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Regex tests a pattern (demo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7568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Show errors in a span, not alert()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824263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 validator returns a message or an empty string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Which event fires on every keystroke?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170932"/>
            <a:ext cx="55626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What does trim()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click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submit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696592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Removes leading and trailing spaces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16897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Removes all spaces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641353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Lowercases the text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599283"/>
            <a:ext cx="5181600" cy="2895600"/>
          </a:xfrm>
          <a:prstGeom prst="roundRect">
            <a:avLst>
              <a:gd name="adj" fmla="val 3947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localStorage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904083"/>
            <a:ext cx="466725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localStorage.setItem('city', 'Blr'); localStorage.getItem('city'); // 'Blr' localStorage.removeItem('city'); localStorage.getItem('x'); // null const v = Number( localStorage.getItem('visits')) || 0; localStorage.setItem('visits', v + 1);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8993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Variables live in RAM: a refresh wipes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3851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localStorage keeps text in the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8709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setItem, getItem, removeItem, 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3567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Strings only; missing keys return 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8425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Inspect: DevTools, Application, Local Storage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456408"/>
            <a:ext cx="5181600" cy="3181350"/>
          </a:xfrm>
          <a:prstGeom prst="roundRect">
            <a:avLst>
              <a:gd name="adj" fmla="val 3592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761208"/>
            <a:ext cx="466725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const text = JSON.stringify(students); localStorage.setItem('students', text); students = JSON.parse( localStorage.getItem('students')) || []; // Invalid JSON throws SyntaxError // JSON.parse("{name:'A'}")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994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 text format for data exchange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78522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Double quotes only, no trailing commas, no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4708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stringify packs, parse unpacks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9566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|| [] handles the first visit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424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try/catch handles corrupted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localStorage can store...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170932"/>
            <a:ext cx="55626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JSON.parse turns...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Only strings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Any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Only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696592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Object into 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16897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String into object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641353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Array into number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742158"/>
            <a:ext cx="5638800" cy="2609850"/>
          </a:xfrm>
          <a:prstGeom prst="roundRect">
            <a:avLst>
              <a:gd name="adj" fmla="val 4379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APIs and fetch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0" y="3046958"/>
            <a:ext cx="51244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console.log('1'); fetch('https://dummyjson.com/quotes/random') .then(res =&gt; res.json()) .then(d =&gt; console.log('3', d.quote)); console.log('2'); // prints 1, 2, then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69951"/>
            <a:ext cx="59055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An API is a menu of data a server offers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018532"/>
            <a:ext cx="59055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fetch returns a Promise: an IOU for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67112"/>
            <a:ext cx="48196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JavaScript does not wait; the main thread continues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35673"/>
            <a:ext cx="59055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.then(...) runs when the data arrives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84253"/>
            <a:ext cx="48196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Open the URL in a tab to see the raw 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170658"/>
            <a:ext cx="5181600" cy="3752850"/>
          </a:xfrm>
          <a:prstGeom prst="roundRect">
            <a:avLst>
              <a:gd name="adj" fmla="val 3045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async/await and 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475458"/>
            <a:ext cx="4667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async function load() { try { const res = await fetch(url); if (!res.ok) throw new Error(res.status); const data = await res.json(); tip.textContent = data.quote; } catch (err) { tip.textContent = 'Fallback tip'; }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6995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await pauses inside an async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01853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Always check response.ok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67112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 404 does not reject: fetch only rejects on network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35673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catch gives a fallback so the page never breaks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0423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Show fetched text with textContent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A Promise is...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022401"/>
            <a:ext cx="4743450" cy="594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Which keyword pauses inside an async function?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 final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An IOU for a future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An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843218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845123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wait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31559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31750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await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787979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789884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hold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742158"/>
            <a:ext cx="5181600" cy="2609850"/>
          </a:xfrm>
          <a:prstGeom prst="roundRect">
            <a:avLst>
              <a:gd name="adj" fmla="val 4379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Git and branching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3046958"/>
            <a:ext cx="4667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git switch -c feature/add-task git branch git status git log --oneline # main: C1 --- C3 --------- C5 # feature: \ C2 -- C4 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994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Git tracks every version of your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7852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Repository = the tracked project folder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27102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main always works; nobody commits there directly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95663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 feature branch is a safe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424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 pull request merges it back after review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027783"/>
            <a:ext cx="5181600" cy="4038600"/>
          </a:xfrm>
          <a:prstGeom prst="roundRect">
            <a:avLst>
              <a:gd name="adj" fmla="val 283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Commits, pull requests and conflicts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332583"/>
            <a:ext cx="466725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git add . git commit -m 'Implement add logic' git push -u origin feature/add-task git switch main git pull origin main &lt;&lt;&lt;&lt;&lt;&lt;&lt; HEAD your line ======= their line &gt;&gt;&gt;&gt;&gt;&gt;&gt; feature/x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09961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Lifecycle: branch, snapshot, push, pull request,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7852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add stages files, commit saves a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27102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Conflict: two branches changed the same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95663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Fix: edit the file, delete the markers, add, 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46422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Conflicts are normal, not a failure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The main branch should...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170932"/>
            <a:ext cx="55626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Which order is correct?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Always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Hold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Be deleted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696592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add, commit,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16897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push, add, 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641353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commit, add, push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742158"/>
            <a:ext cx="5181600" cy="2609850"/>
          </a:xfrm>
          <a:prstGeom prst="roundRect">
            <a:avLst>
              <a:gd name="adj" fmla="val 4379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Deploy with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3046958"/>
            <a:ext cx="4667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git push origin main # Settings &gt; Pages # Source: Deploy from a branch # Branch: main &gt; Save # https://.github.io//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994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Push the merged code to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7852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Repository, Settings,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27102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Deploy from a branch, choose main, Save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75683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Live in a minute or two at username.github.io/repo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424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Repository must be public on a free account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599283"/>
            <a:ext cx="5181600" cy="2895600"/>
          </a:xfrm>
          <a:prstGeom prst="roundRect">
            <a:avLst>
              <a:gd name="adj" fmla="val 3947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CONCEPT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Task Manager: blueprint and sprints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904083"/>
            <a:ext cx="466725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CFBF1"/>
                </a:solidFill>
                <a:latin typeface="Fira Code"/>
              </a:rPr>
              <a:t>// one task { id: 1, title: 'Lab Report', completed: false } addTask() toggleTask() deleteTask() renderTasks() saveTasks() loadTasks() loadDailyTip()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09961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Add, tick, delete, filter, persist, Daily Tip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58541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Loop: action, event, change data, save, 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27102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Sprint 1 (20 min): add, render, toggle, delete,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95663"/>
            <a:ext cx="52768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Sprint 2 (15 min): split, persistence and Daily Tip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464224"/>
            <a:ext cx="6477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Merge, fix the conflict, deploy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QUICK QUIZ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Quiz time: check your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0932"/>
            <a:ext cx="581025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1. GitHub Pages deploys from...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022401"/>
            <a:ext cx="4743450" cy="594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2. The single source of truth in the Task Manager is...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694687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96592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 branch such as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6706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168973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Your laptop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39448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41353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Chrome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3843218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845123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The DOM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31559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317503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The tasks array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787979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789884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The CSS file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412652"/>
            <a:ext cx="382443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34036" y="2412652"/>
            <a:ext cx="714836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031777"/>
            <a:ext cx="382443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036" y="3031777"/>
            <a:ext cx="714836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650902"/>
            <a:ext cx="382443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34036" y="3650902"/>
            <a:ext cx="714836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270027"/>
            <a:ext cx="382443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036" y="4270027"/>
            <a:ext cx="714836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889152"/>
            <a:ext cx="382443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036" y="4889152"/>
            <a:ext cx="714836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508277"/>
            <a:ext cx="382443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036" y="5508277"/>
            <a:ext cx="714836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6127402"/>
            <a:ext cx="382443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036" y="6127402"/>
            <a:ext cx="714836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" y="1845915"/>
            <a:ext cx="10972800" cy="49053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" y="1845915"/>
          <a:ext cx="10972799" cy="4905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824436"/>
                <a:gridCol w="7148363"/>
              </a:tblGrid>
              <a:tr h="61317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Inter"/>
                        </a:rPr>
                        <a:t>Symptom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Inter"/>
                        </a:rPr>
                        <a:t>Likely cause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4"/>
                    </a:solidFill>
                  </a:tcPr>
                </a:tc>
              </a:tr>
              <a:tr h="61317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Cannot read properties of null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Script runs before the element exists, or the id is misspelled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317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Page reloads on submit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Missing event.preventDefault()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317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NaN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Forgot Number() on an input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317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Tasks vanish on refresh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saveTasks() or loadTasks() missing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317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fetch fails locally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Opened via file://, use Live Server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317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git push rejected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Partner pushed first: git pull origin main, then push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3178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Pages site not live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C1917"/>
                          </a:solidFill>
                          <a:latin typeface="Inter"/>
                        </a:rPr>
                        <a:t>Repository is private or Pages not set to 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TROUBLESHOOTING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Common errors and fixes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5963" y="2241351"/>
            <a:ext cx="1067603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V8 runs JavaScript; Node.js adds server APIs; Angular and Vue are UI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5963" y="2789932"/>
            <a:ext cx="1067603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const by default, === always, never var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5963" y="3338512"/>
            <a:ext cx="1067603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map, filter and find power every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5963" y="3887092"/>
            <a:ext cx="1067603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Change the data, then re-render the 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5963" y="4435673"/>
            <a:ext cx="1067603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textContent for typed or fetched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5963" y="4984253"/>
            <a:ext cx="1067603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JSON and localStorage persist; fetch with response.ok brings data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5963" y="5532834"/>
            <a:ext cx="1067603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■ </a:t>
            </a:r>
            <a:r>
              <a:rPr b="0" sz="1800" i="0" u="none">
                <a:solidFill>
                  <a:srgbClr val="1C1917"/>
                </a:solidFill>
                <a:latin typeface="Inter"/>
              </a:rPr>
              <a:t>Branch, commit, pull request, merge, deploy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FINAL ASSESSMENT · QUESTIONS 1–2 OF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20 MCQs: easy to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 · Easy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Which language adds behaviour to a web page?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Q2 · Easy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Which keyword declares a variable that cannot be reassigned?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905994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378374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850755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323135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905994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var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378374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850755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static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5323135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const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FINAL ASSESSMENT · QUESTIONS 3–4 OF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20 MCQs: easy to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37680"/>
            <a:ext cx="4743450" cy="891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Q3 · Easy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What does '5' === 5 return?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Q4 · Easy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Which method adds an item to the end of an array?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755558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757463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22793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229844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undefined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700319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702224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17270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174605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905994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pop()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378374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push()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850755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shift()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5323135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map()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FINAL ASSESSMENT · QUESTIONS 5–6 OF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20 MCQs: easy to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Q5 · Easy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Which method selects an element by its id?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Q6 · Easy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Which converts an object to a JSON string?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905994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getElementById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378374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createElement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850755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querySelectorAll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323135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getElement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905994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JSON.parse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378374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JSON.string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850755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JSON.stringify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5323135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toString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FINAL ASSESSMENT · QUESTIONS 7–8 OF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20 MCQs: easy to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Q7 · Easy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Where do you view localStorage in Chrome?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Q8 · Medium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What does event.preventDefault() do in a submit handler?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905994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378374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850755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323135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905994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Submits faster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378374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Stops the page reload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850755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Clears the inputs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5323135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Validates the form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FINAL ASSESSMENT · QUESTIONS 9–10 OF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20 MCQs: easy to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37680"/>
            <a:ext cx="4743450" cy="891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Q9 · Medium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Safest way to display user-typed text?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Q10 · Medium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const obj = { a: 1 }; obj.a = 2; What happens?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755558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757463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innerHTML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22793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229844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outerHTML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700319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702224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document.write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17270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174605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textContent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905994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TypeError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378374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SyntaxError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850755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5323135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obj is undefined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FINAL ASSESSMENT · QUESTIONS 11–12 OF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20 MCQs: easy to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Q11 · Medium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What does [70, 85, 90].filter(m =&gt; m &gt;= 75) return?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77690"/>
            <a:ext cx="4743450" cy="891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Q12 · Medium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Which statement about Node.js is true?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905994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[85, 90]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378374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[70]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850755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[false, true, true]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323135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595568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597473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It is a web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067948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069853"/>
            <a:ext cx="4438650" cy="63996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 runtime built on V8 that runs outside the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860309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862214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 CSS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33269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5334595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The DOM engine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FINAL ASSESSMENT · QUESTIONS 13–14 OF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20 MCQs: easy to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Q13 · Medium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localStorage.getItem('x') when 'x' was never saved returns...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Q14 · Medium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Which command creates and switches to a new branch?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905994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undefined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378374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An empty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850755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An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323135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905994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git branch -d 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378374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git merge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850755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git switch -c feature/x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5323135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git init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FINAL ASSESSMENT · QUESTIONS 15–16 OF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20 MCQs: easy to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37680"/>
            <a:ext cx="4743450" cy="891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Q15 · Hard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What does fetch() return?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2916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Q16 · Hard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A fetch gets a 404 response. What happens?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755558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757463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The JSON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22793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229844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 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700319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702224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 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17270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174605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An array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744098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746003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SyntaxError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21647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218384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Returns null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688859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690764"/>
            <a:ext cx="4438650" cy="63996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response.ok is false; fetch does not reject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48122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5483125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catch runs automatically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FINAL ASSESSMENT · QUESTIONS 17–18 OF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20 MCQs: easy to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Q17 · Hard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What does console.log(typeof null) print?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8915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Q18 · Hard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console.log(1); fetch(url).then(() =&gt; console.log(3)); console.log(2); prints...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905994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'null'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378374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'undefined'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850755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'number'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323135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'object'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390408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905994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1 3 2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37646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378374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3 1 2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84885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850755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1 2 3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32123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5323135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1 2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45915"/>
            <a:ext cx="5257800" cy="440248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845915"/>
            <a:ext cx="5257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FINAL ASSESSMENT · QUESTIONS 19–20 OF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20 MCQs: easy to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29160"/>
            <a:ext cx="4743450" cy="1188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Q19 · Hard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Which statement about V8 and Node.js is correct?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40619"/>
            <a:ext cx="4743450" cy="1485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766E"/>
                </a:solidFill>
                <a:latin typeface="Space Grotesk"/>
              </a:rPr>
              <a:t>Q20 · Hard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0F766E"/>
                </a:solidFill>
                <a:latin typeface="Space Grotesk"/>
              </a:rPr>
              <a:t> for (var j=0;j&lt;3;j++) setTimeout(()=&gt;console.log(j),0); prints...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744098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746003"/>
            <a:ext cx="542925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V8 provides the 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216479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218384"/>
            <a:ext cx="542925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Node is the engine, V8 the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88859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90764"/>
            <a:ext cx="542925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Node includes the 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516124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163145"/>
            <a:ext cx="4438650" cy="63996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V8 compiles JS to machine code; Node adds fs and http 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4052619"/>
            <a:ext cx="1619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054524"/>
            <a:ext cx="5257800" cy="31998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0 1 2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525000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526905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3 3 3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997380"/>
            <a:ext cx="2000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999285"/>
            <a:ext cx="5257800" cy="31998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0 0 0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5469761"/>
            <a:ext cx="2095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4403C"/>
                </a:solidFill>
                <a:latin typeface="Inter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5471666"/>
            <a:ext cx="5257800" cy="31998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4403C"/>
                </a:solidFill>
                <a:latin typeface="Inter"/>
              </a:rPr>
              <a:t>undefined x3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153025"/>
            <a:ext cx="109728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153025"/>
            <a:ext cx="38100" cy="109537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ANSWER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766E"/>
                </a:solidFill>
                <a:latin typeface="Space Grotesk"/>
              </a:rPr>
              <a:t>Answers to the 20 MCQs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5381625"/>
            <a:ext cx="113157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57534E"/>
                </a:solidFill>
                <a:latin typeface="Inter"/>
              </a:rPr>
              <a:t>1–7 easy  ·  Q8–14 medium  ·  Q15–20 hard.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5743575"/>
            <a:ext cx="113157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Inter"/>
              </a:rPr>
              <a:t>Score: 17–20 excellent, 12–16 good, below 12 revisit the quizzes.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8459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  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3031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Q2  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7603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Q3  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2175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Q4  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6747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Q5  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459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Q6  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031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Q7  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7603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Q8  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2175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Q9  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6747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Q10  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18459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Q11  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23031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Q12  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27603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Q13  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32175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Q14  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400" y="3674715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Q15  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7800" y="1845915"/>
            <a:ext cx="31242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Q16  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7800" y="2303115"/>
            <a:ext cx="31242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Q17  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7800" y="2760315"/>
            <a:ext cx="31242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Q18  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7800" y="3217515"/>
            <a:ext cx="31242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Q19  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7800" y="3674715"/>
            <a:ext cx="31242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C1917"/>
                </a:solidFill>
                <a:latin typeface="Fira Code"/>
              </a:rPr>
              <a:t>Q20  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